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2F04"/>
    <a:srgbClr val="305287"/>
    <a:srgbClr val="FF8A81"/>
    <a:srgbClr val="FF7969"/>
    <a:srgbClr val="FA9973"/>
    <a:srgbClr val="FF1400"/>
    <a:srgbClr val="FE705F"/>
    <a:srgbClr val="FF5138"/>
    <a:srgbClr val="FF3C06"/>
    <a:srgbClr val="FD5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8"/>
    <p:restoredTop sz="94623"/>
  </p:normalViewPr>
  <p:slideViewPr>
    <p:cSldViewPr snapToGrid="0" snapToObjects="1">
      <p:cViewPr>
        <p:scale>
          <a:sx n="135" d="100"/>
          <a:sy n="135" d="100"/>
        </p:scale>
        <p:origin x="11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B3BCC-E093-F642-B78B-95E9B63FA222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15D92-144A-BB43-A6AF-4B405097CA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49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5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9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20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098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986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3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033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610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15D92-144A-BB43-A6AF-4B405097CA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699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71785-35D7-364F-9095-C38645D1C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29FED-D619-184C-ABC7-E738F312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A15A9D-B601-8641-A95D-BDC3B52F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53191D-BCAE-A745-997B-671E4910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20AC04-7A4A-B747-936C-21EB3D1A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01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B2C28-EE54-7C46-9FB3-AD3F6ACE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9BF1A2-E4F1-284F-A253-74FC36D1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AB2D3-0077-C84C-8D20-D2F1703D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199AD-32BF-EB44-9741-954C8115A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932020-161E-8D4B-93CF-F4497E8A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74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49DEC-2B1C-CD46-8BF4-B0ECB5B7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F76D2-15D0-BD40-9951-20E0ED331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DFC1F7-FC9C-B745-B446-CC8DACBD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4EA8D-486C-AD49-8AAD-ECCC992C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5F8077-4548-9E4A-833F-98A6935A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0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1B359-C622-F343-91C0-4989C06E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C0F9A-D05E-3B43-AE66-92863B9FC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F4A3E7-D35D-A846-828C-915570FB1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84D6BB-D86B-B64A-9070-1EFD95B5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72E60C-5909-244B-B767-C9223A3B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FBD350-1AFE-7242-88BB-B0ECBEA97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34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7FC34B-7596-B249-9B97-EA1AA8ED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AD4223-ABFA-B54B-AD97-1328C71F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53F7F-601F-7348-9B6D-52725B6EE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8627A0-04BF-EB44-A21D-1C8134262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1C699C-D1A1-CB4C-B542-E1D71D4FE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70D5C8-3FCB-B04D-BBD9-6D2CF7BD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565D5D-323F-B94F-AE57-92F0A4C6E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49E013-CD79-6B40-8906-7435D9EB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97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533536-E01F-D54A-9E2A-6AEC1DD9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C3CC5A7-2F6D-084D-8D60-AFBE83C3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C35803-8430-A042-8982-23D2AD75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C6D34F-1BD6-B641-85E0-7B1294BF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49A0DC-D959-D34D-A2E8-7185E5D8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B0D465-D593-6D42-B9EE-4D0D06CF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6F5327-B259-A143-BEC7-57E43878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44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51C5F-C8A7-304E-9AC5-ABCA1BAA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2DB8B6-552F-5144-B5F4-149D07B5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F3D039-94D7-8249-A65C-BDDCB707A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32A715-5D0D-E44C-8D60-6947129D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4E17DB-C750-0448-B1DA-A0E60E96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AC1D04-8F5C-9446-A5B4-61BF35B8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64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0F1CD-59CF-EE4C-9560-06F85F1A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D38E35-8AB2-4F4A-91B7-0A8439F23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96EBAB-6B2A-DC45-B8F3-8034015C4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EBC146-2110-7143-9865-7CBA0CEA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E37B42-A512-9447-BCFE-240706D8B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C8D232-2166-2049-808A-A99B0EAC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81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6185B-BC64-8F47-8D87-6C31EFB5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DE7B69D-7BCC-C64B-A6CF-CF7F42908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0D9F14-E52C-2049-A0BC-D40EFF2A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D9AFD2-5645-0C45-BF77-4FD213BF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7278A0-4F48-B24F-8D10-31B3866C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10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13E305C-75B1-1D4C-A097-348C0ED6E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EF16B8-41E3-734B-8A95-6F3B12DA2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7F0530-A767-1646-9827-533686AF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FE4B9B-43A8-7E49-BFED-CBF1EE464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FCBDF1-D804-6040-A916-E71EC7F1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27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AD8729-BA60-AC41-A4A6-37101B44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982D0D-98BC-E94F-95A7-92C5986DF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9C242A-10C1-B240-A909-C8676152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2E612-174E-864D-A1F3-2A430CCC498A}" type="datetimeFigureOut">
              <a:rPr lang="ru-RU" smtClean="0"/>
              <a:t>02.07.2022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7D1806-3517-784C-8E17-11D8F44DD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35FDBC-06ED-DC43-911A-CCF68A4B5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56688-027C-3A46-9573-68556DEB77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55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21D617-2BE9-734E-95F7-A5259B7F7AC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58000"/>
          </a:blip>
          <a:stretch>
            <a:fillRect/>
          </a:stretch>
        </p:blipFill>
        <p:spPr>
          <a:xfrm>
            <a:off x="3767192" y="0"/>
            <a:ext cx="842171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EEBF08-F693-B74F-91B2-232D31B30A0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58000"/>
          </a:blip>
          <a:stretch>
            <a:fillRect/>
          </a:stretch>
        </p:blipFill>
        <p:spPr>
          <a:xfrm flipH="1" flipV="1">
            <a:off x="-1" y="-1"/>
            <a:ext cx="11784395" cy="5981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097147-3B2A-FE4A-ABDA-3E7BF5D682C6}"/>
              </a:ext>
            </a:extLst>
          </p:cNvPr>
          <p:cNvSpPr txBox="1"/>
          <p:nvPr/>
        </p:nvSpPr>
        <p:spPr>
          <a:xfrm>
            <a:off x="343824" y="236644"/>
            <a:ext cx="8220856" cy="144655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8800" b="1" dirty="0">
                <a:solidFill>
                  <a:schemeClr val="bg1">
                    <a:lumMod val="95000"/>
                  </a:schemeClr>
                </a:solidFill>
              </a:rPr>
              <a:t>Бином Ньютона</a:t>
            </a:r>
            <a:endParaRPr lang="ru-RU" sz="8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188" y="0"/>
            <a:ext cx="3219714" cy="11042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12CE5-E55E-8E46-93F3-EA1CE4A345B9}"/>
              </a:ext>
            </a:extLst>
          </p:cNvPr>
          <p:cNvSpPr txBox="1"/>
          <p:nvPr/>
        </p:nvSpPr>
        <p:spPr>
          <a:xfrm>
            <a:off x="880721" y="1608639"/>
            <a:ext cx="7683960" cy="156966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9600" b="1" dirty="0">
                <a:solidFill>
                  <a:srgbClr val="FFC000"/>
                </a:solidFill>
              </a:rPr>
              <a:t>Энтропия</a:t>
            </a:r>
            <a:endParaRPr lang="ru-RU" sz="8800" b="1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2EFD3-240D-414F-802B-B12F74FFF95B}"/>
              </a:ext>
            </a:extLst>
          </p:cNvPr>
          <p:cNvSpPr txBox="1"/>
          <p:nvPr/>
        </p:nvSpPr>
        <p:spPr>
          <a:xfrm>
            <a:off x="-81758" y="3070686"/>
            <a:ext cx="7355061" cy="144655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8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Информация</a:t>
            </a:r>
            <a:endParaRPr lang="ru-RU" sz="8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09D6E6-0BFF-F74E-9990-DE68E2FC2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712" y="3686271"/>
            <a:ext cx="4684936" cy="29923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475744-C7DC-6A4C-8067-D3B146B904D3}"/>
              </a:ext>
            </a:extLst>
          </p:cNvPr>
          <p:cNvSpPr txBox="1"/>
          <p:nvPr/>
        </p:nvSpPr>
        <p:spPr>
          <a:xfrm>
            <a:off x="7978047" y="704724"/>
            <a:ext cx="3743151" cy="317009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sz="20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cs typeface="Arial" panose="020B0604020202020204" pitchFamily="34" charset="0"/>
              </a:rPr>
              <a:t>π</a:t>
            </a:r>
          </a:p>
        </p:txBody>
      </p:sp>
    </p:spTree>
    <p:extLst>
      <p:ext uri="{BB962C8B-B14F-4D97-AF65-F5344CB8AC3E}">
        <p14:creationId xmlns:p14="http://schemas.microsoft.com/office/powerpoint/2010/main" val="381174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F10522-795F-B644-9EAA-071815005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097147-3B2A-FE4A-ABDA-3E7BF5D682C6}"/>
              </a:ext>
            </a:extLst>
          </p:cNvPr>
          <p:cNvSpPr txBox="1"/>
          <p:nvPr/>
        </p:nvSpPr>
        <p:spPr>
          <a:xfrm>
            <a:off x="4383496" y="3002923"/>
            <a:ext cx="6391828" cy="352683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  <a:alpha val="56000"/>
                </a:schemeClr>
              </a:gs>
              <a:gs pos="56000">
                <a:srgbClr val="BF9000">
                  <a:alpha val="72000"/>
                </a:srgbClr>
              </a:gs>
              <a:gs pos="100000">
                <a:srgbClr val="BF9000">
                  <a:alpha val="44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8800" b="1" dirty="0">
                <a:solidFill>
                  <a:schemeClr val="bg1">
                    <a:lumMod val="95000"/>
                  </a:schemeClr>
                </a:solidFill>
              </a:rPr>
              <a:t>Теорема</a:t>
            </a:r>
            <a:br>
              <a:rPr lang="ru-RU" sz="88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8800" b="1" dirty="0">
                <a:solidFill>
                  <a:schemeClr val="bg1">
                    <a:lumMod val="95000"/>
                  </a:schemeClr>
                </a:solidFill>
              </a:rPr>
              <a:t>Пифагора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для самых маленьких</a:t>
            </a:r>
            <a:endParaRPr lang="ru-RU" sz="8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4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6E6F63-F483-A640-A62E-AB02327AB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4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12CE5-E55E-8E46-93F3-EA1CE4A345B9}"/>
              </a:ext>
            </a:extLst>
          </p:cNvPr>
          <p:cNvSpPr txBox="1"/>
          <p:nvPr/>
        </p:nvSpPr>
        <p:spPr>
          <a:xfrm>
            <a:off x="488404" y="2449248"/>
            <a:ext cx="8442684" cy="156966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FFFF00"/>
                </a:solidFill>
              </a:rPr>
              <a:t>1</a:t>
            </a:r>
            <a:r>
              <a:rPr lang="ru-RU" sz="9600" b="1" baseline="30000" dirty="0">
                <a:solidFill>
                  <a:srgbClr val="FFFF00"/>
                </a:solidFill>
              </a:rPr>
              <a:t>5</a:t>
            </a:r>
            <a:r>
              <a:rPr lang="en-US" sz="9600" b="1" dirty="0">
                <a:solidFill>
                  <a:srgbClr val="FFFF00"/>
                </a:solidFill>
              </a:rPr>
              <a:t>+2</a:t>
            </a:r>
            <a:r>
              <a:rPr lang="ru-RU" sz="9600" b="1" baseline="30000" dirty="0">
                <a:solidFill>
                  <a:srgbClr val="FFFF00"/>
                </a:solidFill>
              </a:rPr>
              <a:t>5</a:t>
            </a:r>
            <a:r>
              <a:rPr lang="en-US" sz="9600" b="1" dirty="0">
                <a:solidFill>
                  <a:srgbClr val="FFFF00"/>
                </a:solidFill>
              </a:rPr>
              <a:t>+… + n</a:t>
            </a:r>
            <a:r>
              <a:rPr lang="ru-RU" sz="9600" b="1" baseline="30000" dirty="0">
                <a:solidFill>
                  <a:srgbClr val="FFFF00"/>
                </a:solidFill>
              </a:rPr>
              <a:t>5</a:t>
            </a:r>
            <a:r>
              <a:rPr lang="en-US" sz="9600" b="1" baseline="30000" dirty="0">
                <a:solidFill>
                  <a:srgbClr val="FFFF00"/>
                </a:solidFill>
              </a:rPr>
              <a:t> </a:t>
            </a:r>
            <a:r>
              <a:rPr lang="en-US" sz="9600" b="1" dirty="0">
                <a:solidFill>
                  <a:srgbClr val="FFFF00"/>
                </a:solidFill>
              </a:rPr>
              <a:t>= ?</a:t>
            </a:r>
            <a:endParaRPr lang="ru-RU" sz="8800" b="1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475744-C7DC-6A4C-8067-D3B146B904D3}"/>
              </a:ext>
            </a:extLst>
          </p:cNvPr>
          <p:cNvSpPr txBox="1"/>
          <p:nvPr/>
        </p:nvSpPr>
        <p:spPr>
          <a:xfrm>
            <a:off x="8560658" y="1156586"/>
            <a:ext cx="3743151" cy="2862322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ζ</a:t>
            </a:r>
            <a:r>
              <a:rPr lang="ru-RU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(-1)</a:t>
            </a:r>
            <a:endParaRPr lang="en-US" sz="6000" b="1" dirty="0">
              <a:solidFill>
                <a:schemeClr val="accent4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l-GR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ζ</a:t>
            </a:r>
            <a:r>
              <a:rPr lang="ru-RU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</a:t>
            </a:r>
            <a:r>
              <a:rPr lang="en-US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ru-RU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6000" b="1" dirty="0">
              <a:solidFill>
                <a:schemeClr val="accent4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l-GR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ζ</a:t>
            </a:r>
            <a:r>
              <a:rPr lang="ru-RU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(-</a:t>
            </a:r>
            <a:r>
              <a:rPr lang="en-US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ru-RU" sz="6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l-GR" sz="6000" b="1" dirty="0">
              <a:solidFill>
                <a:schemeClr val="accent4">
                  <a:lumMod val="20000"/>
                  <a:lumOff val="8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79B68F-CD90-FC42-8955-A7EB435BB95D}"/>
              </a:ext>
            </a:extLst>
          </p:cNvPr>
          <p:cNvSpPr txBox="1"/>
          <p:nvPr/>
        </p:nvSpPr>
        <p:spPr>
          <a:xfrm>
            <a:off x="264785" y="423153"/>
            <a:ext cx="8442684" cy="2451953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1500" b="1" baseline="30000" dirty="0">
                <a:solidFill>
                  <a:schemeClr val="bg1"/>
                </a:solidFill>
              </a:rPr>
              <a:t>От треугольника Паскаля</a:t>
            </a:r>
            <a:endParaRPr lang="ru-RU" sz="9600" b="1" baseline="30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1016823" y="4539336"/>
            <a:ext cx="8442684" cy="1272143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1500" b="1" baseline="30000" dirty="0">
                <a:solidFill>
                  <a:schemeClr val="bg1"/>
                </a:solidFill>
              </a:rPr>
              <a:t>до Дзета-функции</a:t>
            </a:r>
            <a:endParaRPr lang="ru-RU" sz="9600" b="1" baseline="30000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F4B09A-1069-6C4E-A1AA-D5B532221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097" y="4409183"/>
            <a:ext cx="2475312" cy="236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21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6E6F63-F483-A640-A62E-AB02327AB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12CE5-E55E-8E46-93F3-EA1CE4A345B9}"/>
              </a:ext>
            </a:extLst>
          </p:cNvPr>
          <p:cNvSpPr txBox="1"/>
          <p:nvPr/>
        </p:nvSpPr>
        <p:spPr>
          <a:xfrm>
            <a:off x="411895" y="261060"/>
            <a:ext cx="10768268" cy="304698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sz="9600" b="1" dirty="0">
                <a:solidFill>
                  <a:srgbClr val="FE705F"/>
                </a:solidFill>
              </a:rPr>
              <a:t>Формула для</a:t>
            </a:r>
            <a:br>
              <a:rPr lang="en-US" sz="9600" b="1" dirty="0">
                <a:solidFill>
                  <a:srgbClr val="FE705F"/>
                </a:solidFill>
              </a:rPr>
            </a:br>
            <a:r>
              <a:rPr lang="en-US" sz="9600" b="1" dirty="0">
                <a:solidFill>
                  <a:srgbClr val="FE705F"/>
                </a:solidFill>
              </a:rPr>
              <a:t>1</a:t>
            </a:r>
            <a:r>
              <a:rPr lang="en-US" sz="9600" b="1" baseline="30000" dirty="0">
                <a:solidFill>
                  <a:srgbClr val="FE705F"/>
                </a:solidFill>
              </a:rPr>
              <a:t>1/2</a:t>
            </a:r>
            <a:r>
              <a:rPr lang="en-US" sz="9600" b="1" dirty="0">
                <a:solidFill>
                  <a:srgbClr val="FE705F"/>
                </a:solidFill>
              </a:rPr>
              <a:t>+2</a:t>
            </a:r>
            <a:r>
              <a:rPr lang="en-US" sz="9600" b="1" baseline="30000" dirty="0">
                <a:solidFill>
                  <a:srgbClr val="FE705F"/>
                </a:solidFill>
              </a:rPr>
              <a:t>1/2</a:t>
            </a:r>
            <a:r>
              <a:rPr lang="en-US" sz="9600" b="1" dirty="0">
                <a:solidFill>
                  <a:srgbClr val="FE705F"/>
                </a:solidFill>
              </a:rPr>
              <a:t>+ …</a:t>
            </a:r>
            <a:r>
              <a:rPr lang="ru-RU" sz="9600" b="1" dirty="0">
                <a:solidFill>
                  <a:srgbClr val="FE705F"/>
                </a:solidFill>
              </a:rPr>
              <a:t> +</a:t>
            </a:r>
            <a:r>
              <a:rPr lang="en-US" sz="9600" b="1" dirty="0">
                <a:solidFill>
                  <a:srgbClr val="FE705F"/>
                </a:solidFill>
              </a:rPr>
              <a:t>m</a:t>
            </a:r>
            <a:r>
              <a:rPr lang="en-US" sz="9600" b="1" baseline="30000" dirty="0">
                <a:solidFill>
                  <a:srgbClr val="FE705F"/>
                </a:solidFill>
              </a:rPr>
              <a:t>1/2</a:t>
            </a:r>
            <a:r>
              <a:rPr lang="en-US" sz="9600" b="1" dirty="0">
                <a:solidFill>
                  <a:srgbClr val="FE705F"/>
                </a:solidFill>
              </a:rPr>
              <a:t>= ?</a:t>
            </a:r>
            <a:endParaRPr lang="ru-RU" sz="8800" b="1" dirty="0">
              <a:solidFill>
                <a:srgbClr val="FE705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3749316" y="4216246"/>
            <a:ext cx="8442684" cy="292387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3800" b="1" baseline="30000" dirty="0">
                <a:solidFill>
                  <a:schemeClr val="bg1"/>
                </a:solidFill>
              </a:rPr>
              <a:t>Дзета-функция</a:t>
            </a:r>
            <a:br>
              <a:rPr lang="en-US" sz="13800" b="1" baseline="30000" dirty="0">
                <a:solidFill>
                  <a:schemeClr val="bg1"/>
                </a:solidFill>
              </a:rPr>
            </a:br>
            <a:r>
              <a:rPr lang="ru-RU" sz="13800" b="1" baseline="30000" dirty="0">
                <a:solidFill>
                  <a:schemeClr val="bg1"/>
                </a:solidFill>
              </a:rPr>
              <a:t>в </a:t>
            </a:r>
            <a:r>
              <a:rPr lang="en-US" sz="13800" b="1" baseline="30000" dirty="0">
                <a:solidFill>
                  <a:schemeClr val="bg1"/>
                </a:solidFill>
              </a:rPr>
              <a:t> ±</a:t>
            </a:r>
            <a:r>
              <a:rPr lang="ru-RU" sz="13800" b="1" baseline="30000" dirty="0">
                <a:solidFill>
                  <a:schemeClr val="bg1"/>
                </a:solidFill>
              </a:rPr>
              <a:t> 1/2</a:t>
            </a:r>
            <a:r>
              <a:rPr lang="en-US" sz="13800" b="1" baseline="30000" dirty="0">
                <a:solidFill>
                  <a:schemeClr val="bg1"/>
                </a:solidFill>
              </a:rPr>
              <a:t> </a:t>
            </a:r>
            <a:r>
              <a:rPr lang="ru-RU" sz="13800" b="1" baseline="30000" dirty="0">
                <a:solidFill>
                  <a:schemeClr val="bg1"/>
                </a:solidFill>
              </a:rPr>
              <a:t>, </a:t>
            </a:r>
            <a:r>
              <a:rPr lang="en-US" sz="13800" b="1" baseline="30000" dirty="0">
                <a:solidFill>
                  <a:schemeClr val="bg1"/>
                </a:solidFill>
              </a:rPr>
              <a:t>±</a:t>
            </a:r>
            <a:r>
              <a:rPr lang="ru-RU" sz="13800" b="1" baseline="30000" dirty="0">
                <a:solidFill>
                  <a:schemeClr val="bg1"/>
                </a:solidFill>
              </a:rPr>
              <a:t> 3/2 </a:t>
            </a:r>
            <a:endParaRPr lang="ru-RU" sz="11500" b="1" baseline="3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75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80FB8C-990A-A24E-87C4-EE14D4F86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29000"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88902" cy="6878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770140" y="2075643"/>
            <a:ext cx="10595949" cy="349839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600" b="1" baseline="30000" dirty="0">
                <a:solidFill>
                  <a:schemeClr val="bg1"/>
                </a:solidFill>
              </a:rPr>
              <a:t>От </a:t>
            </a:r>
            <a:r>
              <a:rPr lang="en-US" sz="16600" b="1" baseline="30000" dirty="0">
                <a:solidFill>
                  <a:schemeClr val="bg1"/>
                </a:solidFill>
              </a:rPr>
              <a:t>SIN(x) </a:t>
            </a:r>
            <a:r>
              <a:rPr lang="ru-RU" sz="16600" b="1" baseline="30000" dirty="0">
                <a:solidFill>
                  <a:schemeClr val="bg1"/>
                </a:solidFill>
              </a:rPr>
              <a:t>до Дзета-функции</a:t>
            </a:r>
            <a:endParaRPr lang="ru-RU" sz="13800" b="1" baseline="3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57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15DA1C-F334-1C4C-9DC7-42732B200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6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770140" y="2075643"/>
            <a:ext cx="10595949" cy="349839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600" b="1" baseline="30000" dirty="0">
                <a:solidFill>
                  <a:schemeClr val="bg1"/>
                </a:solidFill>
              </a:rPr>
              <a:t>Cracking</a:t>
            </a:r>
          </a:p>
          <a:p>
            <a:pPr algn="ctr"/>
            <a:r>
              <a:rPr lang="en-US" sz="16600" b="1" baseline="30000" dirty="0">
                <a:solidFill>
                  <a:schemeClr val="bg1"/>
                </a:solidFill>
              </a:rPr>
              <a:t>Gamma Function</a:t>
            </a:r>
            <a:endParaRPr lang="ru-RU" sz="13800" b="1" baseline="3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76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2DF1930-9D1B-6C43-8444-4DDB2D5ADEF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35000"/>
          </a:blip>
          <a:stretch>
            <a:fillRect/>
          </a:stretch>
        </p:blipFill>
        <p:spPr>
          <a:xfrm>
            <a:off x="0" y="10552"/>
            <a:ext cx="12192000" cy="68474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-241884" y="309804"/>
            <a:ext cx="9452957" cy="3498394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600" b="1" baseline="30000" dirty="0">
                <a:solidFill>
                  <a:schemeClr val="bg1"/>
                </a:solidFill>
              </a:rPr>
              <a:t>Производная</a:t>
            </a:r>
            <a:endParaRPr lang="en-US" sz="16600" b="1" baseline="30000" dirty="0">
              <a:solidFill>
                <a:schemeClr val="bg1"/>
              </a:solidFill>
            </a:endParaRPr>
          </a:p>
          <a:p>
            <a:pPr algn="ctr"/>
            <a:r>
              <a:rPr lang="en-US" sz="16600" b="1" baseline="30000" dirty="0">
                <a:solidFill>
                  <a:schemeClr val="bg1"/>
                </a:solidFill>
              </a:rPr>
              <a:t>“</a:t>
            </a:r>
            <a:r>
              <a:rPr lang="ru-RU" sz="16600" b="1" baseline="30000" dirty="0">
                <a:solidFill>
                  <a:schemeClr val="bg1"/>
                </a:solidFill>
              </a:rPr>
              <a:t>на пальцах</a:t>
            </a:r>
            <a:r>
              <a:rPr lang="en-US" sz="16600" b="1" baseline="30000" dirty="0">
                <a:solidFill>
                  <a:schemeClr val="bg1"/>
                </a:solidFill>
              </a:rPr>
              <a:t>”</a:t>
            </a:r>
            <a:endParaRPr lang="ru-RU" sz="13800" b="1" baseline="30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12366-39E3-4042-B403-4A2809CC71F8}"/>
              </a:ext>
            </a:extLst>
          </p:cNvPr>
          <p:cNvSpPr txBox="1"/>
          <p:nvPr/>
        </p:nvSpPr>
        <p:spPr>
          <a:xfrm>
            <a:off x="2852960" y="5678185"/>
            <a:ext cx="10595949" cy="1795363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6600" b="1" baseline="30000" dirty="0">
                <a:solidFill>
                  <a:srgbClr val="FFFF00"/>
                </a:solidFill>
              </a:rPr>
              <a:t>Ряд Тейлора</a:t>
            </a:r>
            <a:endParaRPr lang="ru-RU" sz="13800" b="1" baseline="300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37ADD-5AF8-D246-910A-6135167FB963}"/>
              </a:ext>
            </a:extLst>
          </p:cNvPr>
          <p:cNvSpPr txBox="1"/>
          <p:nvPr/>
        </p:nvSpPr>
        <p:spPr>
          <a:xfrm>
            <a:off x="3802603" y="3679961"/>
            <a:ext cx="7296150" cy="1569660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9600" b="1" baseline="30000" dirty="0">
                <a:solidFill>
                  <a:srgbClr val="FF8A81"/>
                </a:solidFill>
              </a:rPr>
              <a:t> </a:t>
            </a:r>
            <a:r>
              <a:rPr lang="en-US" sz="9600" b="1" dirty="0">
                <a:solidFill>
                  <a:srgbClr val="FF8A81"/>
                </a:solidFill>
              </a:rPr>
              <a:t>e</a:t>
            </a:r>
            <a:r>
              <a:rPr lang="en-US" sz="9600" b="1" baseline="30000" dirty="0">
                <a:solidFill>
                  <a:srgbClr val="FF8A81"/>
                </a:solidFill>
              </a:rPr>
              <a:t>x,</a:t>
            </a:r>
            <a:r>
              <a:rPr lang="en-US" sz="9600" b="1" dirty="0">
                <a:solidFill>
                  <a:srgbClr val="FF8A81"/>
                </a:solidFill>
              </a:rPr>
              <a:t>  log(x)</a:t>
            </a:r>
            <a:endParaRPr lang="ru-RU" sz="9600" b="1" dirty="0">
              <a:solidFill>
                <a:srgbClr val="FF8A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836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712F45-04D6-CF44-B206-1AD1BAF0B2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8000"/>
          </a:blip>
          <a:srcRect t="-8236" b="8236"/>
          <a:stretch/>
        </p:blipFill>
        <p:spPr>
          <a:xfrm>
            <a:off x="0" y="-615547"/>
            <a:ext cx="12192000" cy="74735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99BE59-9F8E-1049-806B-3BDA0BB98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735" y="577979"/>
            <a:ext cx="7768749" cy="1665213"/>
          </a:xfrm>
          <a:prstGeom prst="rect">
            <a:avLst/>
          </a:prstGeom>
          <a:ln w="63500">
            <a:solidFill>
              <a:srgbClr val="305287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4998232" y="2534729"/>
            <a:ext cx="7257731" cy="4708981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5000" b="1" baseline="30000" dirty="0">
                <a:solidFill>
                  <a:schemeClr val="bg1"/>
                </a:solidFill>
              </a:rPr>
              <a:t>Формула</a:t>
            </a:r>
          </a:p>
          <a:p>
            <a:pPr algn="ctr"/>
            <a:r>
              <a:rPr lang="ru-RU" sz="15000" b="1" baseline="30000" dirty="0">
                <a:solidFill>
                  <a:schemeClr val="bg1"/>
                </a:solidFill>
              </a:rPr>
              <a:t>Эйлера</a:t>
            </a:r>
            <a:r>
              <a:rPr lang="en-US" sz="15000" b="1" baseline="30000" dirty="0">
                <a:solidFill>
                  <a:schemeClr val="bg1"/>
                </a:solidFill>
              </a:rPr>
              <a:t> –</a:t>
            </a:r>
            <a:r>
              <a:rPr lang="ru-RU" sz="15000" b="1" baseline="30000" dirty="0">
                <a:solidFill>
                  <a:schemeClr val="bg1"/>
                </a:solidFill>
              </a:rPr>
              <a:t>Маклорена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9F166-2E19-B743-A067-A23E54EBD86E}"/>
              </a:ext>
            </a:extLst>
          </p:cNvPr>
          <p:cNvSpPr txBox="1"/>
          <p:nvPr/>
        </p:nvSpPr>
        <p:spPr>
          <a:xfrm>
            <a:off x="103697" y="2384592"/>
            <a:ext cx="50621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9600" b="1" dirty="0">
                <a:solidFill>
                  <a:srgbClr val="FFFF00"/>
                </a:solidFill>
              </a:rPr>
              <a:t>ζ(</a:t>
            </a:r>
            <a:r>
              <a:rPr lang="en-US" sz="9600" b="1" dirty="0">
                <a:solidFill>
                  <a:srgbClr val="FFFF00"/>
                </a:solidFill>
              </a:rPr>
              <a:t>z) </a:t>
            </a:r>
            <a:endParaRPr lang="ru-RU" sz="9600" b="1" dirty="0">
              <a:solidFill>
                <a:srgbClr val="FFFF00"/>
              </a:solidFill>
            </a:endParaRPr>
          </a:p>
          <a:p>
            <a:pPr algn="ctr"/>
            <a:r>
              <a:rPr lang="ru-RU" sz="9600" b="1" dirty="0">
                <a:solidFill>
                  <a:srgbClr val="FFFF00"/>
                </a:solidFill>
              </a:rPr>
              <a:t>функция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92CD7-4417-664C-A28C-90096F74B729}"/>
              </a:ext>
            </a:extLst>
          </p:cNvPr>
          <p:cNvSpPr txBox="1"/>
          <p:nvPr/>
        </p:nvSpPr>
        <p:spPr>
          <a:xfrm>
            <a:off x="4851792" y="2992502"/>
            <a:ext cx="87075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dirty="0">
                <a:solidFill>
                  <a:schemeClr val="bg1"/>
                </a:solidFill>
              </a:rPr>
              <a:t>и</a:t>
            </a:r>
          </a:p>
        </p:txBody>
      </p:sp>
    </p:spTree>
    <p:extLst>
      <p:ext uri="{BB962C8B-B14F-4D97-AF65-F5344CB8AC3E}">
        <p14:creationId xmlns:p14="http://schemas.microsoft.com/office/powerpoint/2010/main" val="375961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712F45-04D6-CF44-B206-1AD1BAF0B2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8000"/>
          </a:blip>
          <a:srcRect t="-8236" b="8236"/>
          <a:stretch/>
        </p:blipFill>
        <p:spPr>
          <a:xfrm>
            <a:off x="0" y="-615547"/>
            <a:ext cx="12192000" cy="74735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5A138-AA98-7A41-B17F-B5874B2A1145}"/>
              </a:ext>
            </a:extLst>
          </p:cNvPr>
          <p:cNvSpPr txBox="1"/>
          <p:nvPr/>
        </p:nvSpPr>
        <p:spPr>
          <a:xfrm>
            <a:off x="0" y="5678185"/>
            <a:ext cx="3843169" cy="1200329"/>
          </a:xfrm>
          <a:prstGeom prst="rect">
            <a:avLst/>
          </a:prstGeom>
          <a:solidFill>
            <a:srgbClr val="D92F04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Математические </a:t>
            </a:r>
            <a:endParaRPr lang="en-US" sz="3600" b="1" dirty="0">
              <a:solidFill>
                <a:schemeClr val="bg1"/>
              </a:solidFill>
            </a:endParaRPr>
          </a:p>
          <a:p>
            <a:pPr algn="ctr"/>
            <a:r>
              <a:rPr lang="ru-RU" sz="3600" b="1" dirty="0">
                <a:solidFill>
                  <a:schemeClr val="bg1"/>
                </a:solidFill>
              </a:rPr>
              <a:t>Эксперименты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66B6C6-FDCA-0549-9369-2D0D20C79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188" y="37708"/>
            <a:ext cx="3219714" cy="1104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6FA283-A41C-9A4E-A0EC-663D03EECA76}"/>
              </a:ext>
            </a:extLst>
          </p:cNvPr>
          <p:cNvSpPr txBox="1"/>
          <p:nvPr/>
        </p:nvSpPr>
        <p:spPr>
          <a:xfrm>
            <a:off x="-282803" y="2544155"/>
            <a:ext cx="7257731" cy="3631763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1500" b="1" baseline="30000" dirty="0">
                <a:solidFill>
                  <a:schemeClr val="bg1"/>
                </a:solidFill>
              </a:rPr>
              <a:t>Формула</a:t>
            </a:r>
          </a:p>
          <a:p>
            <a:pPr algn="ctr"/>
            <a:r>
              <a:rPr lang="ru-RU" sz="11500" b="1" baseline="30000" dirty="0">
                <a:solidFill>
                  <a:schemeClr val="bg1"/>
                </a:solidFill>
              </a:rPr>
              <a:t>Эйлера</a:t>
            </a:r>
            <a:r>
              <a:rPr lang="en-US" sz="11500" b="1" baseline="30000" dirty="0">
                <a:solidFill>
                  <a:schemeClr val="bg1"/>
                </a:solidFill>
              </a:rPr>
              <a:t> –</a:t>
            </a:r>
            <a:r>
              <a:rPr lang="ru-RU" sz="11500" b="1" baseline="30000" dirty="0">
                <a:solidFill>
                  <a:schemeClr val="bg1"/>
                </a:solidFill>
              </a:rPr>
              <a:t>Маклорена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43D43ED-75C3-E843-B601-FF731397F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58" y="507086"/>
            <a:ext cx="8276745" cy="1648620"/>
          </a:xfrm>
          <a:prstGeom prst="rect">
            <a:avLst/>
          </a:prstGeom>
          <a:ln w="79375">
            <a:solidFill>
              <a:srgbClr val="305287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A76553-AEC1-144E-A53C-1F64DD3215C6}"/>
              </a:ext>
            </a:extLst>
          </p:cNvPr>
          <p:cNvSpPr txBox="1"/>
          <p:nvPr/>
        </p:nvSpPr>
        <p:spPr>
          <a:xfrm>
            <a:off x="5562963" y="3121226"/>
            <a:ext cx="6742158" cy="1862048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1500" b="1" dirty="0">
                <a:solidFill>
                  <a:srgbClr val="FFFF00"/>
                </a:solidFill>
              </a:rPr>
              <a:t>ЧАСТЬ  2</a:t>
            </a:r>
          </a:p>
        </p:txBody>
      </p:sp>
    </p:spTree>
    <p:extLst>
      <p:ext uri="{BB962C8B-B14F-4D97-AF65-F5344CB8AC3E}">
        <p14:creationId xmlns:p14="http://schemas.microsoft.com/office/powerpoint/2010/main" val="2407863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57356</TotalTime>
  <Words>123</Words>
  <Application>Microsoft Macintosh PowerPoint</Application>
  <PresentationFormat>Широкоэкранный</PresentationFormat>
  <Paragraphs>56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Artem Vorozhtsov</cp:lastModifiedBy>
  <cp:revision>63</cp:revision>
  <dcterms:created xsi:type="dcterms:W3CDTF">2021-05-15T20:43:33Z</dcterms:created>
  <dcterms:modified xsi:type="dcterms:W3CDTF">2022-07-05T13:47:57Z</dcterms:modified>
</cp:coreProperties>
</file>